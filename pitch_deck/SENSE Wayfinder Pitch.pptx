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wearable that guides a blind person to a place they can't see (a door, the exit, a seat) one step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walking into a classroom you've never seen and needing the way out. A white cane tells you about the chair leg in front of you. It can't tell you the door is behind you on the right, past three tables. Today, the answer is: ask someone.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users don't need a device that talks all the time: their hearing tells them about the room. They need help at the moment of "where is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Wayfinder works like a sighted friend: it looks around first, finds the nearest door, works out how far the way is clear, and if a chair is blocking it, tells you how to move it. Press the button for the next step. Every two steps, it looks again. Along the way it doesn't talk about everything it sees: only what you need, like someone walking toward you. (It measures your turn from the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AIs, each doing what it's best at. Claude does the hard thinking: understanding the room and planning. JEV makes quick decisions in a third of a second: if the microphone misheard you, it says so at once instead of spending a slow Claude look; and it decides which things are worth a warning, so the device stays quiet. The voice is ElevenLabs, recorded once and stored on the device. The device itself is a Raspberry Pi with no AI models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Blind people use their hearing to understand a room: footsteps, voices, echoes. So Wayfinder only speaks when it has something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wearable is a Raspberry Pi with a camera, a microphone and one button. It sends a photo to Claude when it needs to look, and keeps everything else on the device. Each Claude look measured about 2,900–4,300 tokens in and 140–190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honest about what's proven. The software works, it runs on the hardware, and we've measured the timing. A survey with one turn takes 8 seconds plus turning time. JEV catches misheard speech and commands said another way ("what do I do now" = next step, "cancel that" = stop). On the Pi it understood "go to the bathroom" and found an open glass door. On the Pi's first run, answers took 6 to 29 seconds, so we made the pictures smaller and added a "Still looking" message. What we haven't done yet is the most important part: testing with blind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give you eyes. We give you another way to find your way. We're looking for people to test it with.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6181D"/>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8627"/>
            <a:ext cx="10566400" cy="3906573"/>
          </a:xfrm>
          <a:prstGeom prst="rect">
            <a:avLst/>
          </a:prstGeom>
          <a:noFill/>
          <a:ln/>
        </p:spPr>
        <p:txBody>
          <a:bodyPr wrap="square" lIns="0" tIns="0" rIns="0" bIns="0" rtlCol="0" anchor="t"/>
          <a:lstStyle>
            <a:lvl1pPr algn="l" indent="0" marL="0">
              <a:lnSpc>
                <a:spcPct val="140000"/>
              </a:lnSpc>
              <a:buNone/>
              <a:defRPr lang="en-US" sz="1600" dirty="0">
                <a:solidFill>
                  <a:srgbClr val="16181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6181D"/>
                </a:solidFill>
                <a:latin typeface="Public Sans" pitchFamily="34" charset="0"/>
                <a:ea typeface="Public Sans" pitchFamily="34" charset="-122"/>
                <a:cs typeface="Public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8627"/>
            <a:ext cx="10566400" cy="3906573"/>
          </a:xfrm>
          <a:prstGeom prst="rect">
            <a:avLst/>
          </a:prstGeom>
          <a:noFill/>
          <a:ln/>
        </p:spPr>
        <p:txBody>
          <a:bodyPr wrap="square" lIns="0" tIns="0" rIns="0" bIns="0" rtlCol="0" anchor="t"/>
          <a:lstStyle>
            <a:lvl1pPr algn="l" indent="0" marL="0">
              <a:lnSpc>
                <a:spcPct val="140000"/>
              </a:lnSpc>
              <a:buNone/>
              <a:defRPr lang="en-US" sz="1600" dirty="0">
                <a:solidFill>
                  <a:srgbClr val="16181D"/>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8FB0FF"/>
                </a:solidFill>
                <a:latin typeface="Public Sans" pitchFamily="34" charset="0"/>
                <a:ea typeface="Public Sans" pitchFamily="34" charset="-122"/>
                <a:cs typeface="Public Sans" pitchFamily="34" charset="-120"/>
              </a:rPr>
              <a:t>TEAM JUGAAD JUNCTION</a:t>
            </a:r>
            <a:endParaRPr lang="en-US" sz="1200" dirty="0"/>
          </a:p>
        </p:txBody>
      </p:sp>
      <p:sp>
        <p:nvSpPr>
          <p:cNvPr id="3" name="Text 1"/>
          <p:cNvSpPr/>
          <p:nvPr>
            <p:ph type="title"/>
          </p:nvPr>
        </p:nvSpPr>
        <p:spPr>
          <a:xfrm>
            <a:off x="812800" y="2622550"/>
            <a:ext cx="10883392" cy="985507"/>
          </a:xfrm>
          <a:prstGeom prst="rect">
            <a:avLst/>
          </a:prstGeom>
          <a:noFill/>
          <a:ln/>
        </p:spPr>
        <p:txBody>
          <a:bodyPr wrap="square" lIns="0" tIns="0" rIns="0" bIns="0" rtlCol="0" anchor="t">
            <a:normAutofit/>
          </a:bodyPr>
          <a:lstStyle/>
          <a:p>
            <a:pPr algn="l" indent="0" marL="0">
              <a:lnSpc>
                <a:spcPts val="7560"/>
              </a:lnSpc>
              <a:buNone/>
            </a:pPr>
            <a:r>
              <a:rPr lang="en-US" sz="7200" b="1" i="0" spc="-150" kern="0" dirty="0">
                <a:solidFill>
                  <a:srgbClr val="F7F6F2"/>
                </a:solidFill>
                <a:latin typeface="Public Sans" pitchFamily="34" charset="0"/>
                <a:ea typeface="Public Sans" pitchFamily="34" charset="-122"/>
                <a:cs typeface="Public Sans" pitchFamily="34" charset="-120"/>
              </a:rPr>
              <a:t>SEE SENSE</a:t>
            </a:r>
            <a:endParaRPr lang="en-US" sz="7200" dirty="0"/>
          </a:p>
        </p:txBody>
      </p:sp>
      <p:sp>
        <p:nvSpPr>
          <p:cNvPr id="4" name="Text 2"/>
          <p:cNvSpPr/>
          <p:nvPr/>
        </p:nvSpPr>
        <p:spPr>
          <a:xfrm>
            <a:off x="812800" y="3836657"/>
            <a:ext cx="1088339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7F6F2"/>
                </a:solidFill>
                <a:latin typeface="Public Sans" pitchFamily="34" charset="0"/>
                <a:ea typeface="Public Sans" pitchFamily="34" charset="-122"/>
                <a:cs typeface="Public Sans" pitchFamily="34" charset="-120"/>
              </a:rPr>
              <a:t>Hold the button. Say where you want to go. Get guided there.</a:t>
            </a:r>
            <a:endParaRPr lang="en-US" sz="2200" dirty="0"/>
          </a:p>
        </p:txBody>
      </p:sp>
      <p:sp>
        <p:nvSpPr>
          <p:cNvPr id="5" name="Text 3"/>
          <p:cNvSpPr/>
          <p:nvPr/>
        </p:nvSpPr>
        <p:spPr>
          <a:xfrm>
            <a:off x="812800" y="579629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C"/>
                </a:solidFill>
                <a:latin typeface="Public Sans" pitchFamily="34" charset="0"/>
                <a:ea typeface="Public Sans" pitchFamily="34" charset="-122"/>
                <a:cs typeface="Public Sans" pitchFamily="34" charset="-120"/>
              </a:rPr>
              <a:t>A wearable indoor guide for blind people · Claude Impact Lab - Superhuman Lab hackathon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D0"/>
                </a:solidFill>
                <a:latin typeface="Public Sans" pitchFamily="34" charset="0"/>
                <a:ea typeface="Public Sans" pitchFamily="34" charset="-122"/>
                <a:cs typeface="Public Sans" pitchFamily="34" charset="-120"/>
              </a:rPr>
              <a:t>02 · THE PROBLEM</a:t>
            </a:r>
            <a:endParaRPr lang="en-US" sz="1200" dirty="0"/>
          </a:p>
        </p:txBody>
      </p:sp>
      <p:sp>
        <p:nvSpPr>
          <p:cNvPr id="3" name="Text 1"/>
          <p:cNvSpPr/>
          <p:nvPr>
            <p:ph type="title"/>
          </p:nvPr>
        </p:nvSpPr>
        <p:spPr>
          <a:xfrm>
            <a:off x="812800" y="1381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6181D"/>
                </a:solidFill>
                <a:latin typeface="Public Sans" pitchFamily="34" charset="0"/>
                <a:ea typeface="Public Sans" pitchFamily="34" charset="-122"/>
                <a:cs typeface="Public Sans" pitchFamily="34" charset="-120"/>
              </a:rPr>
              <a:t>Every new room is a puzzle</a:t>
            </a:r>
            <a:endParaRPr lang="en-US" sz="3600" dirty="0"/>
          </a:p>
        </p:txBody>
      </p:sp>
      <p:sp>
        <p:nvSpPr>
          <p:cNvPr id="4" name="Shape 2"/>
          <p:cNvSpPr/>
          <p:nvPr/>
        </p:nvSpPr>
        <p:spPr>
          <a:xfrm>
            <a:off x="812800" y="2243403"/>
            <a:ext cx="10566400" cy="0"/>
          </a:xfrm>
          <a:prstGeom prst="line">
            <a:avLst/>
          </a:prstGeom>
          <a:noFill/>
          <a:ln w="6350">
            <a:solidFill>
              <a:srgbClr val="D5D3CC"/>
            </a:solidFill>
            <a:prstDash val="solid"/>
          </a:ln>
        </p:spPr>
      </p:sp>
      <p:sp>
        <p:nvSpPr>
          <p:cNvPr id="5" name="Text 3"/>
          <p:cNvSpPr/>
          <p:nvPr/>
        </p:nvSpPr>
        <p:spPr>
          <a:xfrm>
            <a:off x="812800" y="2422261"/>
            <a:ext cx="10883392" cy="339064"/>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16181D"/>
                </a:solidFill>
                <a:latin typeface="Public Sans" pitchFamily="34" charset="0"/>
                <a:ea typeface="Public Sans" pitchFamily="34" charset="-122"/>
                <a:cs typeface="Public Sans" pitchFamily="34" charset="-120"/>
              </a:rPr>
              <a:t>A cane finds what's at your feet, not where the door is</a:t>
            </a:r>
            <a:endParaRPr lang="en-US" sz="1900" dirty="0"/>
          </a:p>
        </p:txBody>
      </p:sp>
      <p:sp>
        <p:nvSpPr>
          <p:cNvPr id="6" name="Shape 4"/>
          <p:cNvSpPr/>
          <p:nvPr/>
        </p:nvSpPr>
        <p:spPr>
          <a:xfrm>
            <a:off x="812800" y="2916899"/>
            <a:ext cx="10566400" cy="0"/>
          </a:xfrm>
          <a:prstGeom prst="line">
            <a:avLst/>
          </a:prstGeom>
          <a:noFill/>
          <a:ln w="6350">
            <a:solidFill>
              <a:srgbClr val="D5D3CC"/>
            </a:solidFill>
            <a:prstDash val="solid"/>
          </a:ln>
        </p:spPr>
      </p:sp>
      <p:sp>
        <p:nvSpPr>
          <p:cNvPr id="7" name="Text 5"/>
          <p:cNvSpPr/>
          <p:nvPr/>
        </p:nvSpPr>
        <p:spPr>
          <a:xfrm>
            <a:off x="812800" y="3095758"/>
            <a:ext cx="10883392" cy="339064"/>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16181D"/>
                </a:solidFill>
                <a:latin typeface="Public Sans" pitchFamily="34" charset="0"/>
                <a:ea typeface="Public Sans" pitchFamily="34" charset="-122"/>
                <a:cs typeface="Public Sans" pitchFamily="34" charset="-120"/>
              </a:rPr>
              <a:t>GPS doesn't work indoors</a:t>
            </a:r>
            <a:endParaRPr lang="en-US" sz="1900" dirty="0"/>
          </a:p>
        </p:txBody>
      </p:sp>
      <p:sp>
        <p:nvSpPr>
          <p:cNvPr id="8" name="Shape 6"/>
          <p:cNvSpPr/>
          <p:nvPr/>
        </p:nvSpPr>
        <p:spPr>
          <a:xfrm>
            <a:off x="812800" y="3590396"/>
            <a:ext cx="10566400" cy="0"/>
          </a:xfrm>
          <a:prstGeom prst="line">
            <a:avLst/>
          </a:prstGeom>
          <a:noFill/>
          <a:ln w="6350">
            <a:solidFill>
              <a:srgbClr val="D5D3CC"/>
            </a:solidFill>
            <a:prstDash val="solid"/>
          </a:ln>
        </p:spPr>
      </p:sp>
      <p:sp>
        <p:nvSpPr>
          <p:cNvPr id="9" name="Text 7"/>
          <p:cNvSpPr/>
          <p:nvPr/>
        </p:nvSpPr>
        <p:spPr>
          <a:xfrm>
            <a:off x="812800" y="3769255"/>
            <a:ext cx="10883392" cy="339064"/>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16181D"/>
                </a:solidFill>
                <a:latin typeface="Public Sans" pitchFamily="34" charset="0"/>
                <a:ea typeface="Public Sans" pitchFamily="34" charset="-122"/>
                <a:cs typeface="Public Sans" pitchFamily="34" charset="-120"/>
              </a:rPr>
              <a:t>Description apps say "there's a door", not how to reach it</a:t>
            </a:r>
            <a:endParaRPr lang="en-US" sz="1900" dirty="0"/>
          </a:p>
        </p:txBody>
      </p:sp>
      <p:sp>
        <p:nvSpPr>
          <p:cNvPr id="10" name="Shape 8"/>
          <p:cNvSpPr/>
          <p:nvPr/>
        </p:nvSpPr>
        <p:spPr>
          <a:xfrm>
            <a:off x="812800" y="4263893"/>
            <a:ext cx="10566400" cy="0"/>
          </a:xfrm>
          <a:prstGeom prst="line">
            <a:avLst/>
          </a:prstGeom>
          <a:noFill/>
          <a:ln w="6350">
            <a:solidFill>
              <a:srgbClr val="D5D3CC"/>
            </a:solidFill>
            <a:prstDash val="solid"/>
          </a:ln>
        </p:spPr>
      </p:sp>
      <p:sp>
        <p:nvSpPr>
          <p:cNvPr id="11" name="Text 9"/>
          <p:cNvSpPr/>
          <p:nvPr/>
        </p:nvSpPr>
        <p:spPr>
          <a:xfrm>
            <a:off x="812800" y="4442752"/>
            <a:ext cx="10883392" cy="339064"/>
          </a:xfrm>
          <a:prstGeom prst="rect">
            <a:avLst/>
          </a:prstGeom>
          <a:noFill/>
          <a:ln/>
        </p:spPr>
        <p:txBody>
          <a:bodyPr wrap="square" lIns="0" tIns="0" rIns="0" bIns="0" rtlCol="0" anchor="t">
            <a:normAutofit/>
          </a:bodyPr>
          <a:lstStyle/>
          <a:p>
            <a:pPr algn="l" indent="0" marL="0">
              <a:lnSpc>
                <a:spcPts val="2470"/>
              </a:lnSpc>
              <a:buNone/>
            </a:pPr>
            <a:r>
              <a:rPr lang="en-US" sz="1900" dirty="0">
                <a:solidFill>
                  <a:srgbClr val="16181D"/>
                </a:solidFill>
                <a:latin typeface="Public Sans" pitchFamily="34" charset="0"/>
                <a:ea typeface="Public Sans" pitchFamily="34" charset="-122"/>
                <a:cs typeface="Public Sans" pitchFamily="34" charset="-120"/>
              </a:rPr>
              <a:t>A phone needs a free hand, and the cane already has one</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D0"/>
                </a:solidFill>
                <a:latin typeface="Public Sans" pitchFamily="34" charset="0"/>
                <a:ea typeface="Public Sans" pitchFamily="34" charset="-122"/>
                <a:cs typeface="Public Sans" pitchFamily="34" charset="-120"/>
              </a:rPr>
              <a:t>03 · WHO IT'S FOR</a:t>
            </a:r>
            <a:endParaRPr lang="en-US" sz="1200" dirty="0"/>
          </a:p>
        </p:txBody>
      </p:sp>
      <p:sp>
        <p:nvSpPr>
          <p:cNvPr id="3" name="Text 1"/>
          <p:cNvSpPr/>
          <p:nvPr>
            <p:ph type="title"/>
          </p:nvPr>
        </p:nvSpPr>
        <p:spPr>
          <a:xfrm>
            <a:off x="812800" y="1381720"/>
            <a:ext cx="10883392" cy="1031214"/>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6181D"/>
                </a:solidFill>
                <a:latin typeface="Public Sans" pitchFamily="34" charset="0"/>
                <a:ea typeface="Public Sans" pitchFamily="34" charset="-122"/>
                <a:cs typeface="Public Sans" pitchFamily="34" charset="-120"/>
              </a:rPr>
              <a:t>Blind and low-vision people who get around on their own</a:t>
            </a:r>
            <a:endParaRPr lang="en-US" sz="3600" dirty="0"/>
          </a:p>
        </p:txBody>
      </p:sp>
      <p:sp>
        <p:nvSpPr>
          <p:cNvPr id="4" name="Shape 2"/>
          <p:cNvSpPr/>
          <p:nvPr/>
        </p:nvSpPr>
        <p:spPr>
          <a:xfrm>
            <a:off x="812800" y="4987330"/>
            <a:ext cx="3251200" cy="0"/>
          </a:xfrm>
          <a:prstGeom prst="line">
            <a:avLst/>
          </a:prstGeom>
          <a:noFill/>
          <a:ln w="12700">
            <a:solidFill>
              <a:srgbClr val="16181D"/>
            </a:solidFill>
            <a:prstDash val="solid"/>
          </a:ln>
        </p:spPr>
      </p:sp>
      <p:sp>
        <p:nvSpPr>
          <p:cNvPr id="5" name="Text 3"/>
          <p:cNvSpPr/>
          <p:nvPr/>
        </p:nvSpPr>
        <p:spPr>
          <a:xfrm>
            <a:off x="812800" y="5171480"/>
            <a:ext cx="334873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181D"/>
                </a:solidFill>
                <a:latin typeface="Public Sans" pitchFamily="34" charset="0"/>
                <a:ea typeface="Public Sans" pitchFamily="34" charset="-122"/>
                <a:cs typeface="Public Sans" pitchFamily="34" charset="-120"/>
              </a:rPr>
              <a:t>Independent</a:t>
            </a:r>
            <a:endParaRPr lang="en-US" sz="1800" dirty="0"/>
          </a:p>
        </p:txBody>
      </p:sp>
      <p:sp>
        <p:nvSpPr>
          <p:cNvPr id="6" name="Text 4"/>
          <p:cNvSpPr/>
          <p:nvPr/>
        </p:nvSpPr>
        <p:spPr>
          <a:xfrm>
            <a:off x="812800" y="5547387"/>
            <a:ext cx="334873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B66"/>
                </a:solidFill>
                <a:latin typeface="Public Sans" pitchFamily="34" charset="0"/>
                <a:ea typeface="Public Sans" pitchFamily="34" charset="-122"/>
                <a:cs typeface="Public Sans" pitchFamily="34" charset="-120"/>
              </a:rPr>
              <a:t>They already move on their own with a white cane</a:t>
            </a:r>
            <a:endParaRPr lang="en-US" sz="1400" dirty="0"/>
          </a:p>
        </p:txBody>
      </p:sp>
      <p:sp>
        <p:nvSpPr>
          <p:cNvPr id="7" name="Shape 5"/>
          <p:cNvSpPr/>
          <p:nvPr/>
        </p:nvSpPr>
        <p:spPr>
          <a:xfrm>
            <a:off x="4470400" y="4987330"/>
            <a:ext cx="3251200" cy="0"/>
          </a:xfrm>
          <a:prstGeom prst="line">
            <a:avLst/>
          </a:prstGeom>
          <a:noFill/>
          <a:ln w="12700">
            <a:solidFill>
              <a:srgbClr val="16181D"/>
            </a:solidFill>
            <a:prstDash val="solid"/>
          </a:ln>
        </p:spPr>
      </p:sp>
      <p:sp>
        <p:nvSpPr>
          <p:cNvPr id="8" name="Text 6"/>
          <p:cNvSpPr/>
          <p:nvPr/>
        </p:nvSpPr>
        <p:spPr>
          <a:xfrm>
            <a:off x="4470400" y="5171480"/>
            <a:ext cx="334873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181D"/>
                </a:solidFill>
                <a:latin typeface="Public Sans" pitchFamily="34" charset="0"/>
                <a:ea typeface="Public Sans" pitchFamily="34" charset="-122"/>
                <a:cs typeface="Public Sans" pitchFamily="34" charset="-120"/>
              </a:rPr>
              <a:t>Indoors, unfamiliar</a:t>
            </a:r>
            <a:endParaRPr lang="en-US" sz="1800" dirty="0"/>
          </a:p>
        </p:txBody>
      </p:sp>
      <p:sp>
        <p:nvSpPr>
          <p:cNvPr id="9" name="Text 7"/>
          <p:cNvSpPr/>
          <p:nvPr/>
        </p:nvSpPr>
        <p:spPr>
          <a:xfrm>
            <a:off x="4470400" y="5547387"/>
            <a:ext cx="334873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B66"/>
                </a:solidFill>
                <a:latin typeface="Public Sans" pitchFamily="34" charset="0"/>
                <a:ea typeface="Public Sans" pitchFamily="34" charset="-122"/>
                <a:cs typeface="Public Sans" pitchFamily="34" charset="-120"/>
              </a:rPr>
              <a:t>Colleges, offices, hospitals, stations, shops</a:t>
            </a:r>
            <a:endParaRPr lang="en-US" sz="1400" dirty="0"/>
          </a:p>
        </p:txBody>
      </p:sp>
      <p:sp>
        <p:nvSpPr>
          <p:cNvPr id="10" name="Shape 8"/>
          <p:cNvSpPr/>
          <p:nvPr/>
        </p:nvSpPr>
        <p:spPr>
          <a:xfrm>
            <a:off x="8128000" y="4987330"/>
            <a:ext cx="3251200" cy="0"/>
          </a:xfrm>
          <a:prstGeom prst="line">
            <a:avLst/>
          </a:prstGeom>
          <a:noFill/>
          <a:ln w="12700">
            <a:solidFill>
              <a:srgbClr val="2F5BD0"/>
            </a:solidFill>
            <a:prstDash val="solid"/>
          </a:ln>
        </p:spPr>
      </p:sp>
      <p:sp>
        <p:nvSpPr>
          <p:cNvPr id="11" name="Text 9"/>
          <p:cNvSpPr/>
          <p:nvPr/>
        </p:nvSpPr>
        <p:spPr>
          <a:xfrm>
            <a:off x="8128000" y="5171480"/>
            <a:ext cx="3348736"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F5BD0"/>
                </a:solidFill>
                <a:latin typeface="Public Sans" pitchFamily="34" charset="0"/>
                <a:ea typeface="Public Sans" pitchFamily="34" charset="-122"/>
                <a:cs typeface="Public Sans" pitchFamily="34" charset="-120"/>
              </a:rPr>
              <a:t>One moment</a:t>
            </a:r>
            <a:endParaRPr lang="en-US" sz="1800" dirty="0"/>
          </a:p>
        </p:txBody>
      </p:sp>
      <p:sp>
        <p:nvSpPr>
          <p:cNvPr id="12" name="Text 10"/>
          <p:cNvSpPr/>
          <p:nvPr/>
        </p:nvSpPr>
        <p:spPr>
          <a:xfrm>
            <a:off x="8128000" y="5547387"/>
            <a:ext cx="3348736"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B66"/>
                </a:solidFill>
                <a:latin typeface="Public Sans" pitchFamily="34" charset="0"/>
                <a:ea typeface="Public Sans" pitchFamily="34" charset="-122"/>
                <a:cs typeface="Public Sans" pitchFamily="34" charset="-120"/>
              </a:rPr>
              <a:t>"Where is it, and how do I get there?"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D0"/>
                </a:solidFill>
                <a:latin typeface="Public Sans" pitchFamily="34" charset="0"/>
                <a:ea typeface="Public Sans" pitchFamily="34" charset="-122"/>
                <a:cs typeface="Public Sans" pitchFamily="34" charset="-120"/>
              </a:rPr>
              <a:t>04 · THE SOLUTION</a:t>
            </a:r>
            <a:endParaRPr lang="en-US" sz="1200" dirty="0"/>
          </a:p>
        </p:txBody>
      </p:sp>
      <p:sp>
        <p:nvSpPr>
          <p:cNvPr id="3" name="Text 1"/>
          <p:cNvSpPr/>
          <p:nvPr>
            <p:ph type="title"/>
          </p:nvPr>
        </p:nvSpPr>
        <p:spPr>
          <a:xfrm>
            <a:off x="812800" y="13309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6181D"/>
                </a:solidFill>
                <a:latin typeface="Public Sans" pitchFamily="34" charset="0"/>
                <a:ea typeface="Public Sans" pitchFamily="34" charset="-122"/>
                <a:cs typeface="Public Sans" pitchFamily="34" charset="-120"/>
              </a:rPr>
              <a:t>A guide that looks, plans and walks you there</a:t>
            </a:r>
            <a:endParaRPr lang="en-US" sz="3600" dirty="0"/>
          </a:p>
        </p:txBody>
      </p:sp>
      <p:sp>
        <p:nvSpPr>
          <p:cNvPr id="4" name="Shape 2"/>
          <p:cNvSpPr/>
          <p:nvPr/>
        </p:nvSpPr>
        <p:spPr>
          <a:xfrm>
            <a:off x="812800" y="2141803"/>
            <a:ext cx="3318933" cy="0"/>
          </a:xfrm>
          <a:prstGeom prst="line">
            <a:avLst/>
          </a:prstGeom>
          <a:noFill/>
          <a:ln w="6350">
            <a:solidFill>
              <a:srgbClr val="D5D3CC"/>
            </a:solidFill>
            <a:prstDash val="solid"/>
          </a:ln>
        </p:spPr>
      </p:sp>
      <p:sp>
        <p:nvSpPr>
          <p:cNvPr id="5" name="Text 3"/>
          <p:cNvSpPr/>
          <p:nvPr/>
        </p:nvSpPr>
        <p:spPr>
          <a:xfrm>
            <a:off x="812800" y="2295261"/>
            <a:ext cx="34185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D0"/>
                </a:solidFill>
                <a:latin typeface="Public Sans" pitchFamily="34" charset="0"/>
                <a:ea typeface="Public Sans" pitchFamily="34" charset="-122"/>
                <a:cs typeface="Public Sans" pitchFamily="34" charset="-120"/>
              </a:rPr>
              <a:t>1</a:t>
            </a:r>
            <a:endParaRPr lang="en-US" sz="1200" dirty="0"/>
          </a:p>
        </p:txBody>
      </p:sp>
      <p:sp>
        <p:nvSpPr>
          <p:cNvPr id="6" name="Text 4"/>
          <p:cNvSpPr/>
          <p:nvPr/>
        </p:nvSpPr>
        <p:spPr>
          <a:xfrm>
            <a:off x="812800" y="2572082"/>
            <a:ext cx="341850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Hold the button</a:t>
            </a:r>
            <a:endParaRPr lang="en-US" sz="1700" dirty="0"/>
          </a:p>
        </p:txBody>
      </p:sp>
      <p:sp>
        <p:nvSpPr>
          <p:cNvPr id="7" name="Text 5"/>
          <p:cNvSpPr/>
          <p:nvPr/>
        </p:nvSpPr>
        <p:spPr>
          <a:xfrm>
            <a:off x="812800" y="2894608"/>
            <a:ext cx="341850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"Take me to the exit"</a:t>
            </a:r>
            <a:endParaRPr lang="en-US" sz="1300" dirty="0"/>
          </a:p>
        </p:txBody>
      </p:sp>
      <p:sp>
        <p:nvSpPr>
          <p:cNvPr id="8" name="Shape 6"/>
          <p:cNvSpPr/>
          <p:nvPr/>
        </p:nvSpPr>
        <p:spPr>
          <a:xfrm>
            <a:off x="4436533" y="2141803"/>
            <a:ext cx="3318933" cy="0"/>
          </a:xfrm>
          <a:prstGeom prst="line">
            <a:avLst/>
          </a:prstGeom>
          <a:noFill/>
          <a:ln w="6350">
            <a:solidFill>
              <a:srgbClr val="D5D3CC"/>
            </a:solidFill>
            <a:prstDash val="solid"/>
          </a:ln>
        </p:spPr>
      </p:sp>
      <p:sp>
        <p:nvSpPr>
          <p:cNvPr id="9" name="Text 7"/>
          <p:cNvSpPr/>
          <p:nvPr/>
        </p:nvSpPr>
        <p:spPr>
          <a:xfrm>
            <a:off x="4436533" y="2295261"/>
            <a:ext cx="34185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D0"/>
                </a:solidFill>
                <a:latin typeface="Public Sans" pitchFamily="34" charset="0"/>
                <a:ea typeface="Public Sans" pitchFamily="34" charset="-122"/>
                <a:cs typeface="Public Sans" pitchFamily="34" charset="-120"/>
              </a:rPr>
              <a:t>2</a:t>
            </a:r>
            <a:endParaRPr lang="en-US" sz="1200" dirty="0"/>
          </a:p>
        </p:txBody>
      </p:sp>
      <p:sp>
        <p:nvSpPr>
          <p:cNvPr id="10" name="Text 8"/>
          <p:cNvSpPr/>
          <p:nvPr/>
        </p:nvSpPr>
        <p:spPr>
          <a:xfrm>
            <a:off x="4436533" y="2572082"/>
            <a:ext cx="341850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It looks around</a:t>
            </a:r>
            <a:endParaRPr lang="en-US" sz="1700" dirty="0"/>
          </a:p>
        </p:txBody>
      </p:sp>
      <p:sp>
        <p:nvSpPr>
          <p:cNvPr id="11" name="Text 9"/>
          <p:cNvSpPr/>
          <p:nvPr/>
        </p:nvSpPr>
        <p:spPr>
          <a:xfrm>
            <a:off x="4436533" y="2894608"/>
            <a:ext cx="341850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"Turn right about 90 degrees." … "OK, stop."</a:t>
            </a:r>
            <a:endParaRPr lang="en-US" sz="1300" dirty="0"/>
          </a:p>
        </p:txBody>
      </p:sp>
      <p:sp>
        <p:nvSpPr>
          <p:cNvPr id="12" name="Shape 10"/>
          <p:cNvSpPr/>
          <p:nvPr/>
        </p:nvSpPr>
        <p:spPr>
          <a:xfrm>
            <a:off x="8060267" y="2141803"/>
            <a:ext cx="3318933" cy="0"/>
          </a:xfrm>
          <a:prstGeom prst="line">
            <a:avLst/>
          </a:prstGeom>
          <a:noFill/>
          <a:ln w="6350">
            <a:solidFill>
              <a:srgbClr val="D5D3CC"/>
            </a:solidFill>
            <a:prstDash val="solid"/>
          </a:ln>
        </p:spPr>
      </p:sp>
      <p:sp>
        <p:nvSpPr>
          <p:cNvPr id="13" name="Text 11"/>
          <p:cNvSpPr/>
          <p:nvPr/>
        </p:nvSpPr>
        <p:spPr>
          <a:xfrm>
            <a:off x="8060267" y="2295261"/>
            <a:ext cx="34185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D0"/>
                </a:solidFill>
                <a:latin typeface="Public Sans" pitchFamily="34" charset="0"/>
                <a:ea typeface="Public Sans" pitchFamily="34" charset="-122"/>
                <a:cs typeface="Public Sans" pitchFamily="34" charset="-120"/>
              </a:rPr>
              <a:t>3</a:t>
            </a:r>
            <a:endParaRPr lang="en-US" sz="1200" dirty="0"/>
          </a:p>
        </p:txBody>
      </p:sp>
      <p:sp>
        <p:nvSpPr>
          <p:cNvPr id="14" name="Text 12"/>
          <p:cNvSpPr/>
          <p:nvPr/>
        </p:nvSpPr>
        <p:spPr>
          <a:xfrm>
            <a:off x="8060267" y="2572082"/>
            <a:ext cx="341850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It plans the walkway</a:t>
            </a:r>
            <a:endParaRPr lang="en-US" sz="1700" dirty="0"/>
          </a:p>
        </p:txBody>
      </p:sp>
      <p:sp>
        <p:nvSpPr>
          <p:cNvPr id="15" name="Text 13"/>
          <p:cNvSpPr/>
          <p:nvPr/>
        </p:nvSpPr>
        <p:spPr>
          <a:xfrm>
            <a:off x="8060267" y="2894608"/>
            <a:ext cx="341850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"Walk about 3 steps. The tables will be on your left."</a:t>
            </a:r>
            <a:endParaRPr lang="en-US" sz="1300" dirty="0"/>
          </a:p>
        </p:txBody>
      </p:sp>
      <p:sp>
        <p:nvSpPr>
          <p:cNvPr id="16" name="Shape 14"/>
          <p:cNvSpPr/>
          <p:nvPr/>
        </p:nvSpPr>
        <p:spPr>
          <a:xfrm>
            <a:off x="812800" y="3664810"/>
            <a:ext cx="3318933" cy="0"/>
          </a:xfrm>
          <a:prstGeom prst="line">
            <a:avLst/>
          </a:prstGeom>
          <a:noFill/>
          <a:ln w="6350">
            <a:solidFill>
              <a:srgbClr val="D5D3CC"/>
            </a:solidFill>
            <a:prstDash val="solid"/>
          </a:ln>
        </p:spPr>
      </p:sp>
      <p:sp>
        <p:nvSpPr>
          <p:cNvPr id="17" name="Text 15"/>
          <p:cNvSpPr/>
          <p:nvPr/>
        </p:nvSpPr>
        <p:spPr>
          <a:xfrm>
            <a:off x="812800" y="3818269"/>
            <a:ext cx="34185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D0"/>
                </a:solidFill>
                <a:latin typeface="Public Sans" pitchFamily="34" charset="0"/>
                <a:ea typeface="Public Sans" pitchFamily="34" charset="-122"/>
                <a:cs typeface="Public Sans" pitchFamily="34" charset="-120"/>
              </a:rPr>
              <a:t>4</a:t>
            </a:r>
            <a:endParaRPr lang="en-US" sz="1200" dirty="0"/>
          </a:p>
        </p:txBody>
      </p:sp>
      <p:sp>
        <p:nvSpPr>
          <p:cNvPr id="18" name="Text 16"/>
          <p:cNvSpPr/>
          <p:nvPr/>
        </p:nvSpPr>
        <p:spPr>
          <a:xfrm>
            <a:off x="812800" y="4095090"/>
            <a:ext cx="341850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It warns only when it matters</a:t>
            </a:r>
            <a:endParaRPr lang="en-US" sz="1700" dirty="0"/>
          </a:p>
        </p:txBody>
      </p:sp>
      <p:sp>
        <p:nvSpPr>
          <p:cNvPr id="19" name="Text 17"/>
          <p:cNvSpPr/>
          <p:nvPr/>
        </p:nvSpPr>
        <p:spPr>
          <a:xfrm>
            <a:off x="812800" y="4417616"/>
            <a:ext cx="341850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"A person on your left, coming toward you."</a:t>
            </a:r>
            <a:endParaRPr lang="en-US" sz="1300" dirty="0"/>
          </a:p>
        </p:txBody>
      </p:sp>
      <p:sp>
        <p:nvSpPr>
          <p:cNvPr id="20" name="Shape 18"/>
          <p:cNvSpPr/>
          <p:nvPr/>
        </p:nvSpPr>
        <p:spPr>
          <a:xfrm>
            <a:off x="4436533" y="3664810"/>
            <a:ext cx="3318933" cy="0"/>
          </a:xfrm>
          <a:prstGeom prst="line">
            <a:avLst/>
          </a:prstGeom>
          <a:noFill/>
          <a:ln w="6350">
            <a:solidFill>
              <a:srgbClr val="D5D3CC"/>
            </a:solidFill>
            <a:prstDash val="solid"/>
          </a:ln>
        </p:spPr>
      </p:sp>
      <p:sp>
        <p:nvSpPr>
          <p:cNvPr id="21" name="Text 19"/>
          <p:cNvSpPr/>
          <p:nvPr/>
        </p:nvSpPr>
        <p:spPr>
          <a:xfrm>
            <a:off x="4436533" y="3818269"/>
            <a:ext cx="34185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D0"/>
                </a:solidFill>
                <a:latin typeface="Public Sans" pitchFamily="34" charset="0"/>
                <a:ea typeface="Public Sans" pitchFamily="34" charset="-122"/>
                <a:cs typeface="Public Sans" pitchFamily="34" charset="-120"/>
              </a:rPr>
              <a:t>5</a:t>
            </a:r>
            <a:endParaRPr lang="en-US" sz="1200" dirty="0"/>
          </a:p>
        </p:txBody>
      </p:sp>
      <p:sp>
        <p:nvSpPr>
          <p:cNvPr id="22" name="Text 20"/>
          <p:cNvSpPr/>
          <p:nvPr/>
        </p:nvSpPr>
        <p:spPr>
          <a:xfrm>
            <a:off x="4436533" y="4095090"/>
            <a:ext cx="341850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It clears the way</a:t>
            </a:r>
            <a:endParaRPr lang="en-US" sz="1700" dirty="0"/>
          </a:p>
        </p:txBody>
      </p:sp>
      <p:sp>
        <p:nvSpPr>
          <p:cNvPr id="23" name="Text 21"/>
          <p:cNvSpPr/>
          <p:nvPr/>
        </p:nvSpPr>
        <p:spPr>
          <a:xfrm>
            <a:off x="4436533" y="4417616"/>
            <a:ext cx="341850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"The chair is right in front of you. Push it to your left."</a:t>
            </a:r>
            <a:endParaRPr lang="en-US" sz="1300" dirty="0"/>
          </a:p>
        </p:txBody>
      </p:sp>
      <p:sp>
        <p:nvSpPr>
          <p:cNvPr id="24" name="Shape 22"/>
          <p:cNvSpPr/>
          <p:nvPr/>
        </p:nvSpPr>
        <p:spPr>
          <a:xfrm>
            <a:off x="8060267" y="3664810"/>
            <a:ext cx="3318933" cy="0"/>
          </a:xfrm>
          <a:prstGeom prst="line">
            <a:avLst/>
          </a:prstGeom>
          <a:noFill/>
          <a:ln w="6350">
            <a:solidFill>
              <a:srgbClr val="D5D3CC"/>
            </a:solidFill>
            <a:prstDash val="solid"/>
          </a:ln>
        </p:spPr>
      </p:sp>
      <p:sp>
        <p:nvSpPr>
          <p:cNvPr id="25" name="Text 23"/>
          <p:cNvSpPr/>
          <p:nvPr/>
        </p:nvSpPr>
        <p:spPr>
          <a:xfrm>
            <a:off x="8060267" y="3818269"/>
            <a:ext cx="341850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F5BD0"/>
                </a:solidFill>
                <a:latin typeface="Public Sans" pitchFamily="34" charset="0"/>
                <a:ea typeface="Public Sans" pitchFamily="34" charset="-122"/>
                <a:cs typeface="Public Sans" pitchFamily="34" charset="-120"/>
              </a:rPr>
              <a:t>6</a:t>
            </a:r>
            <a:endParaRPr lang="en-US" sz="1200" dirty="0"/>
          </a:p>
        </p:txBody>
      </p:sp>
      <p:sp>
        <p:nvSpPr>
          <p:cNvPr id="26" name="Text 24"/>
          <p:cNvSpPr/>
          <p:nvPr/>
        </p:nvSpPr>
        <p:spPr>
          <a:xfrm>
            <a:off x="8060267" y="4095090"/>
            <a:ext cx="3418501"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You arrive</a:t>
            </a:r>
            <a:endParaRPr lang="en-US" sz="1700" dirty="0"/>
          </a:p>
        </p:txBody>
      </p:sp>
      <p:sp>
        <p:nvSpPr>
          <p:cNvPr id="27" name="Text 25"/>
          <p:cNvSpPr/>
          <p:nvPr/>
        </p:nvSpPr>
        <p:spPr>
          <a:xfrm>
            <a:off x="8060267" y="4417616"/>
            <a:ext cx="3418501"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"The door is right in front of you. The handle is on the right."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D0"/>
                </a:solidFill>
                <a:latin typeface="Public Sans" pitchFamily="34" charset="0"/>
                <a:ea typeface="Public Sans" pitchFamily="34" charset="-122"/>
                <a:cs typeface="Public Sans" pitchFamily="34" charset="-120"/>
              </a:rPr>
              <a:t>05 · HOW IT WORKS</a:t>
            </a:r>
            <a:endParaRPr lang="en-US" sz="1200" dirty="0"/>
          </a:p>
        </p:txBody>
      </p:sp>
      <p:sp>
        <p:nvSpPr>
          <p:cNvPr id="3" name="Text 1"/>
          <p:cNvSpPr/>
          <p:nvPr>
            <p:ph type="title"/>
          </p:nvPr>
        </p:nvSpPr>
        <p:spPr>
          <a:xfrm>
            <a:off x="812800" y="12801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6181D"/>
                </a:solidFill>
                <a:latin typeface="Public Sans" pitchFamily="34" charset="0"/>
                <a:ea typeface="Public Sans" pitchFamily="34" charset="-122"/>
                <a:cs typeface="Public Sans" pitchFamily="34" charset="-120"/>
              </a:rPr>
              <a:t>Claude sees. JEV decides fast. You hear only what matters.</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5920"/>
          <a:ext cx="10553700" cy="2773495"/>
        </p:xfrm>
        <a:graphic>
          <a:graphicData uri="http://schemas.openxmlformats.org/drawingml/2006/table">
            <a:tbl>
              <a:tblPr/>
              <a:tblGrid>
                <a:gridCol w="3166110"/>
                <a:gridCol w="7387590"/>
              </a:tblGrid>
              <a:tr h="396214">
                <a:tc>
                  <a:txBody>
                    <a:bodyPr/>
                    <a:lstStyle/>
                    <a:p>
                      <a:pPr indent="0" marL="0">
                        <a:lnSpc>
                          <a:spcPts val="1820"/>
                        </a:lnSpc>
                        <a:buNone/>
                      </a:pPr>
                      <a:r>
                        <a:rPr lang="en-US" sz="1300" b="1" dirty="0">
                          <a:solidFill>
                            <a:srgbClr val="16181D"/>
                          </a:solidFill>
                          <a:latin typeface="Public Sans" pitchFamily="34" charset="0"/>
                          <a:ea typeface="Public Sans" pitchFamily="34" charset="-122"/>
                          <a:cs typeface="Public Sans" pitchFamily="34" charset="-120"/>
                        </a:rPr>
                        <a:t>Part</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6181D"/>
                          </a:solidFill>
                          <a:latin typeface="Public Sans" pitchFamily="34" charset="0"/>
                          <a:ea typeface="Public Sans" pitchFamily="34" charset="-122"/>
                          <a:cs typeface="Public Sans" pitchFamily="34" charset="-120"/>
                        </a:rPr>
                        <a:t>Job</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96214">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Head camera</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Claude's eyes; also measures your turn, to about 1°</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96214">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Claude Sonnet 5.5</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Understands the room, picks the nearest door, plans the route</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96214">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JEV (TypeSafe)</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In 0.3 s: request, command or misheard? What needs a warning?</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96214">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Button + Vosk</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Hold to speak, press for the next step; speech recognised offline</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96214">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Earbuds</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Every instruction in a natural voice, stored on the device</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96214">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Live view</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A helper, trainer or judge sees what Wayfinder sees, in any browser</a:t>
                      </a:r>
                      <a:endParaRPr lang="en-US" sz="1300" dirty="0">
                        <a:latin typeface="Public Sans" charset="0"/>
                        <a:ea typeface="Public Sans" charset="0"/>
                        <a:cs typeface="Public Sans" charset="0"/>
                      </a:endParaRPr>
                    </a:p>
                  </a:txBody>
                  <a:tcPr marL="101600" marR="101600" marT="76200" marB="7620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D0"/>
                </a:solidFill>
                <a:latin typeface="Public Sans" pitchFamily="34" charset="0"/>
                <a:ea typeface="Public Sans" pitchFamily="34" charset="-122"/>
                <a:cs typeface="Public Sans" pitchFamily="34" charset="-120"/>
              </a:rPr>
              <a:t>06 · DESIGN PRINCIPLES</a:t>
            </a:r>
            <a:endParaRPr lang="en-US" sz="1200" dirty="0"/>
          </a:p>
        </p:txBody>
      </p:sp>
      <p:sp>
        <p:nvSpPr>
          <p:cNvPr id="3" name="Text 1"/>
          <p:cNvSpPr/>
          <p:nvPr>
            <p:ph type="title"/>
          </p:nvPr>
        </p:nvSpPr>
        <p:spPr>
          <a:xfrm>
            <a:off x="812800" y="13309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6181D"/>
                </a:solidFill>
                <a:latin typeface="Public Sans" pitchFamily="34" charset="0"/>
                <a:ea typeface="Public Sans" pitchFamily="34" charset="-122"/>
                <a:cs typeface="Public Sans" pitchFamily="34" charset="-120"/>
              </a:rPr>
              <a:t>Built around how blind people actually move</a:t>
            </a:r>
            <a:endParaRPr lang="en-US" sz="3600" dirty="0"/>
          </a:p>
        </p:txBody>
      </p:sp>
      <p:sp>
        <p:nvSpPr>
          <p:cNvPr id="4" name="Shape 2"/>
          <p:cNvSpPr/>
          <p:nvPr/>
        </p:nvSpPr>
        <p:spPr>
          <a:xfrm>
            <a:off x="812800" y="2141804"/>
            <a:ext cx="10566400" cy="0"/>
          </a:xfrm>
          <a:prstGeom prst="line">
            <a:avLst/>
          </a:prstGeom>
          <a:noFill/>
          <a:ln w="6350">
            <a:solidFill>
              <a:srgbClr val="D5D3CC"/>
            </a:solidFill>
            <a:prstDash val="solid"/>
          </a:ln>
        </p:spPr>
      </p:sp>
      <p:sp>
        <p:nvSpPr>
          <p:cNvPr id="5" name="Text 3"/>
          <p:cNvSpPr/>
          <p:nvPr/>
        </p:nvSpPr>
        <p:spPr>
          <a:xfrm>
            <a:off x="812800" y="2269861"/>
            <a:ext cx="274701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Quiet by default</a:t>
            </a:r>
            <a:endParaRPr lang="en-US" sz="1700" dirty="0"/>
          </a:p>
        </p:txBody>
      </p:sp>
      <p:sp>
        <p:nvSpPr>
          <p:cNvPr id="6" name="Text 4"/>
          <p:cNvSpPr/>
          <p:nvPr/>
        </p:nvSpPr>
        <p:spPr>
          <a:xfrm>
            <a:off x="3784600" y="2291029"/>
            <a:ext cx="782243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B66"/>
                </a:solidFill>
                <a:latin typeface="Public Sans" pitchFamily="34" charset="0"/>
                <a:ea typeface="Public Sans" pitchFamily="34" charset="-122"/>
                <a:cs typeface="Public Sans" pitchFamily="34" charset="-120"/>
              </a:rPr>
              <a:t>Only instructions and real warnings are spoken</a:t>
            </a:r>
            <a:endParaRPr lang="en-US" sz="1400" dirty="0"/>
          </a:p>
        </p:txBody>
      </p:sp>
      <p:sp>
        <p:nvSpPr>
          <p:cNvPr id="7" name="Shape 5"/>
          <p:cNvSpPr/>
          <p:nvPr/>
        </p:nvSpPr>
        <p:spPr>
          <a:xfrm>
            <a:off x="812800" y="2670110"/>
            <a:ext cx="10566400" cy="0"/>
          </a:xfrm>
          <a:prstGeom prst="line">
            <a:avLst/>
          </a:prstGeom>
          <a:noFill/>
          <a:ln w="6350">
            <a:solidFill>
              <a:srgbClr val="D5D3CC"/>
            </a:solidFill>
            <a:prstDash val="solid"/>
          </a:ln>
        </p:spPr>
      </p:sp>
      <p:sp>
        <p:nvSpPr>
          <p:cNvPr id="8" name="Text 6"/>
          <p:cNvSpPr/>
          <p:nvPr/>
        </p:nvSpPr>
        <p:spPr>
          <a:xfrm>
            <a:off x="812800" y="2798167"/>
            <a:ext cx="274701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Survey before planning</a:t>
            </a:r>
            <a:endParaRPr lang="en-US" sz="1700" dirty="0"/>
          </a:p>
        </p:txBody>
      </p:sp>
      <p:sp>
        <p:nvSpPr>
          <p:cNvPr id="9" name="Text 7"/>
          <p:cNvSpPr/>
          <p:nvPr/>
        </p:nvSpPr>
        <p:spPr>
          <a:xfrm>
            <a:off x="3784600" y="2819335"/>
            <a:ext cx="782243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B66"/>
                </a:solidFill>
                <a:latin typeface="Public Sans" pitchFamily="34" charset="0"/>
                <a:ea typeface="Public Sans" pitchFamily="34" charset="-122"/>
                <a:cs typeface="Public Sans" pitchFamily="34" charset="-120"/>
              </a:rPr>
              <a:t>Finds the nearest door, and checks another angle before calling the way blocked</a:t>
            </a:r>
            <a:endParaRPr lang="en-US" sz="1400" dirty="0"/>
          </a:p>
        </p:txBody>
      </p:sp>
      <p:sp>
        <p:nvSpPr>
          <p:cNvPr id="10" name="Shape 8"/>
          <p:cNvSpPr/>
          <p:nvPr/>
        </p:nvSpPr>
        <p:spPr>
          <a:xfrm>
            <a:off x="812800" y="3198416"/>
            <a:ext cx="10566400" cy="0"/>
          </a:xfrm>
          <a:prstGeom prst="line">
            <a:avLst/>
          </a:prstGeom>
          <a:noFill/>
          <a:ln w="6350">
            <a:solidFill>
              <a:srgbClr val="D5D3CC"/>
            </a:solidFill>
            <a:prstDash val="solid"/>
          </a:ln>
        </p:spPr>
      </p:sp>
      <p:sp>
        <p:nvSpPr>
          <p:cNvPr id="11" name="Text 9"/>
          <p:cNvSpPr/>
          <p:nvPr/>
        </p:nvSpPr>
        <p:spPr>
          <a:xfrm>
            <a:off x="812800" y="3326476"/>
            <a:ext cx="274701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Hands free</a:t>
            </a:r>
            <a:endParaRPr lang="en-US" sz="1700" dirty="0"/>
          </a:p>
        </p:txBody>
      </p:sp>
      <p:sp>
        <p:nvSpPr>
          <p:cNvPr id="12" name="Text 10"/>
          <p:cNvSpPr/>
          <p:nvPr/>
        </p:nvSpPr>
        <p:spPr>
          <a:xfrm>
            <a:off x="3784600" y="3347641"/>
            <a:ext cx="782243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B66"/>
                </a:solidFill>
                <a:latin typeface="Public Sans" pitchFamily="34" charset="0"/>
                <a:ea typeface="Public Sans" pitchFamily="34" charset="-122"/>
                <a:cs typeface="Public Sans" pitchFamily="34" charset="-120"/>
              </a:rPr>
              <a:t>One button, no phone in hand</a:t>
            </a:r>
            <a:endParaRPr lang="en-US" sz="1400" dirty="0"/>
          </a:p>
        </p:txBody>
      </p:sp>
      <p:sp>
        <p:nvSpPr>
          <p:cNvPr id="13" name="Shape 11"/>
          <p:cNvSpPr/>
          <p:nvPr/>
        </p:nvSpPr>
        <p:spPr>
          <a:xfrm>
            <a:off x="812800" y="3726724"/>
            <a:ext cx="10566400" cy="0"/>
          </a:xfrm>
          <a:prstGeom prst="line">
            <a:avLst/>
          </a:prstGeom>
          <a:noFill/>
          <a:ln w="6350">
            <a:solidFill>
              <a:srgbClr val="D5D3CC"/>
            </a:solidFill>
            <a:prstDash val="solid"/>
          </a:ln>
        </p:spPr>
      </p:sp>
      <p:sp>
        <p:nvSpPr>
          <p:cNvPr id="14" name="Text 12"/>
          <p:cNvSpPr/>
          <p:nvPr/>
        </p:nvSpPr>
        <p:spPr>
          <a:xfrm>
            <a:off x="812800" y="3854782"/>
            <a:ext cx="274701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Honest</a:t>
            </a:r>
            <a:endParaRPr lang="en-US" sz="1700" dirty="0"/>
          </a:p>
        </p:txBody>
      </p:sp>
      <p:sp>
        <p:nvSpPr>
          <p:cNvPr id="15" name="Text 13"/>
          <p:cNvSpPr/>
          <p:nvPr/>
        </p:nvSpPr>
        <p:spPr>
          <a:xfrm>
            <a:off x="3784600" y="3875949"/>
            <a:ext cx="782243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B66"/>
                </a:solidFill>
                <a:latin typeface="Public Sans" pitchFamily="34" charset="0"/>
                <a:ea typeface="Public Sans" pitchFamily="34" charset="-122"/>
                <a:cs typeface="Public Sans" pitchFamily="34" charset="-120"/>
              </a:rPr>
              <a:t>Says when it's unsure; never says a path is "safe"</a:t>
            </a:r>
            <a:endParaRPr lang="en-US" sz="1400" dirty="0"/>
          </a:p>
        </p:txBody>
      </p:sp>
      <p:sp>
        <p:nvSpPr>
          <p:cNvPr id="16" name="Shape 14"/>
          <p:cNvSpPr/>
          <p:nvPr/>
        </p:nvSpPr>
        <p:spPr>
          <a:xfrm>
            <a:off x="812800" y="4255030"/>
            <a:ext cx="10566400" cy="0"/>
          </a:xfrm>
          <a:prstGeom prst="line">
            <a:avLst/>
          </a:prstGeom>
          <a:noFill/>
          <a:ln w="6350">
            <a:solidFill>
              <a:srgbClr val="D5D3CC"/>
            </a:solidFill>
            <a:prstDash val="solid"/>
          </a:ln>
        </p:spPr>
      </p:sp>
      <p:sp>
        <p:nvSpPr>
          <p:cNvPr id="17" name="Text 15"/>
          <p:cNvSpPr/>
          <p:nvPr/>
        </p:nvSpPr>
        <p:spPr>
          <a:xfrm>
            <a:off x="812800" y="4383088"/>
            <a:ext cx="274701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6181D"/>
                </a:solidFill>
                <a:latin typeface="Public Sans" pitchFamily="34" charset="0"/>
                <a:ea typeface="Public Sans" pitchFamily="34" charset="-122"/>
                <a:cs typeface="Public Sans" pitchFamily="34" charset="-120"/>
              </a:rPr>
              <a:t>Respectful</a:t>
            </a:r>
            <a:endParaRPr lang="en-US" sz="1700" dirty="0"/>
          </a:p>
        </p:txBody>
      </p:sp>
      <p:sp>
        <p:nvSpPr>
          <p:cNvPr id="18" name="Text 16"/>
          <p:cNvSpPr/>
          <p:nvPr/>
        </p:nvSpPr>
        <p:spPr>
          <a:xfrm>
            <a:off x="3784600" y="4404255"/>
            <a:ext cx="7822438"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5B66"/>
                </a:solidFill>
                <a:latin typeface="Public Sans" pitchFamily="34" charset="0"/>
                <a:ea typeface="Public Sans" pitchFamily="34" charset="-122"/>
                <a:cs typeface="Public Sans" pitchFamily="34" charset="-120"/>
              </a:rPr>
              <a:t>Never asks you to move a person or someone's wheelchair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D0"/>
                </a:solidFill>
                <a:latin typeface="Public Sans" pitchFamily="34" charset="0"/>
                <a:ea typeface="Public Sans" pitchFamily="34" charset="-122"/>
                <a:cs typeface="Public Sans" pitchFamily="34" charset="-120"/>
              </a:rPr>
              <a:t>07 · WHAT IT'S BUILT FROM</a:t>
            </a:r>
            <a:endParaRPr lang="en-US" sz="1200" dirty="0"/>
          </a:p>
        </p:txBody>
      </p:sp>
      <p:sp>
        <p:nvSpPr>
          <p:cNvPr id="3" name="Text 1"/>
          <p:cNvSpPr/>
          <p:nvPr>
            <p:ph type="title"/>
          </p:nvPr>
        </p:nvSpPr>
        <p:spPr>
          <a:xfrm>
            <a:off x="812800" y="13309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6181D"/>
                </a:solidFill>
                <a:latin typeface="Public Sans" pitchFamily="34" charset="0"/>
                <a:ea typeface="Public Sans" pitchFamily="34" charset="-122"/>
                <a:cs typeface="Public Sans" pitchFamily="34" charset="-120"/>
              </a:rPr>
              <a:t>Simple hardware; the intelligence is in the cloud</a:t>
            </a:r>
            <a:endParaRPr lang="en-US" sz="3600" dirty="0"/>
          </a:p>
        </p:txBody>
      </p:sp>
      <p:sp>
        <p:nvSpPr>
          <p:cNvPr id="4" name="Shape 2"/>
          <p:cNvSpPr/>
          <p:nvPr/>
        </p:nvSpPr>
        <p:spPr>
          <a:xfrm>
            <a:off x="812800" y="2144979"/>
            <a:ext cx="2955594" cy="0"/>
          </a:xfrm>
          <a:prstGeom prst="line">
            <a:avLst/>
          </a:prstGeom>
          <a:noFill/>
          <a:ln w="12700">
            <a:solidFill>
              <a:srgbClr val="16181D"/>
            </a:solidFill>
            <a:prstDash val="solid"/>
          </a:ln>
        </p:spPr>
      </p:sp>
      <p:sp>
        <p:nvSpPr>
          <p:cNvPr id="5" name="Text 3"/>
          <p:cNvSpPr/>
          <p:nvPr/>
        </p:nvSpPr>
        <p:spPr>
          <a:xfrm>
            <a:off x="812800" y="2303729"/>
            <a:ext cx="304426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81D"/>
                </a:solidFill>
                <a:latin typeface="Public Sans" pitchFamily="34" charset="0"/>
                <a:ea typeface="Public Sans" pitchFamily="34" charset="-122"/>
                <a:cs typeface="Public Sans" pitchFamily="34" charset="-120"/>
              </a:rPr>
              <a:t>Hardware</a:t>
            </a:r>
            <a:endParaRPr lang="en-US" sz="1600" dirty="0"/>
          </a:p>
        </p:txBody>
      </p:sp>
      <p:sp>
        <p:nvSpPr>
          <p:cNvPr id="6" name="Text 4"/>
          <p:cNvSpPr/>
          <p:nvPr/>
        </p:nvSpPr>
        <p:spPr>
          <a:xfrm>
            <a:off x="812800" y="2661841"/>
            <a:ext cx="304426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Raspberry Pi 5 + Active Cooler</a:t>
            </a:r>
            <a:endParaRPr lang="en-US" sz="1300" dirty="0"/>
          </a:p>
        </p:txBody>
      </p:sp>
      <p:sp>
        <p:nvSpPr>
          <p:cNvPr id="7" name="Text 5"/>
          <p:cNvSpPr/>
          <p:nvPr/>
        </p:nvSpPr>
        <p:spPr>
          <a:xfrm>
            <a:off x="812800" y="2956455"/>
            <a:ext cx="304426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Pi Camera 3 on the chest</a:t>
            </a:r>
            <a:endParaRPr lang="en-US" sz="1300" dirty="0"/>
          </a:p>
        </p:txBody>
      </p:sp>
      <p:sp>
        <p:nvSpPr>
          <p:cNvPr id="8" name="Text 6"/>
          <p:cNvSpPr/>
          <p:nvPr/>
        </p:nvSpPr>
        <p:spPr>
          <a:xfrm>
            <a:off x="812800" y="3251070"/>
            <a:ext cx="304426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INMP441 microphone</a:t>
            </a:r>
            <a:endParaRPr lang="en-US" sz="1300" dirty="0"/>
          </a:p>
        </p:txBody>
      </p:sp>
      <p:sp>
        <p:nvSpPr>
          <p:cNvPr id="9" name="Text 7"/>
          <p:cNvSpPr/>
          <p:nvPr/>
        </p:nvSpPr>
        <p:spPr>
          <a:xfrm>
            <a:off x="812800" y="3545681"/>
            <a:ext cx="304426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Push button</a:t>
            </a:r>
            <a:endParaRPr lang="en-US" sz="1300" dirty="0"/>
          </a:p>
        </p:txBody>
      </p:sp>
      <p:sp>
        <p:nvSpPr>
          <p:cNvPr id="10" name="Text 8"/>
          <p:cNvSpPr/>
          <p:nvPr/>
        </p:nvSpPr>
        <p:spPr>
          <a:xfrm>
            <a:off x="812800" y="3840296"/>
            <a:ext cx="304426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Bluetooth earbuds</a:t>
            </a:r>
            <a:endParaRPr lang="en-US" sz="1300" dirty="0"/>
          </a:p>
        </p:txBody>
      </p:sp>
      <p:sp>
        <p:nvSpPr>
          <p:cNvPr id="11" name="Text 9"/>
          <p:cNvSpPr/>
          <p:nvPr/>
        </p:nvSpPr>
        <p:spPr>
          <a:xfrm>
            <a:off x="812800" y="4134910"/>
            <a:ext cx="304426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Power bank/Supply</a:t>
            </a:r>
            <a:endParaRPr lang="en-US" sz="1300" dirty="0"/>
          </a:p>
        </p:txBody>
      </p:sp>
      <p:sp>
        <p:nvSpPr>
          <p:cNvPr id="12" name="Shape 10"/>
          <p:cNvSpPr/>
          <p:nvPr/>
        </p:nvSpPr>
        <p:spPr>
          <a:xfrm>
            <a:off x="4174794" y="2144979"/>
            <a:ext cx="3842345" cy="0"/>
          </a:xfrm>
          <a:prstGeom prst="line">
            <a:avLst/>
          </a:prstGeom>
          <a:noFill/>
          <a:ln w="12700">
            <a:solidFill>
              <a:srgbClr val="16181D"/>
            </a:solidFill>
            <a:prstDash val="solid"/>
          </a:ln>
        </p:spPr>
      </p:sp>
      <p:sp>
        <p:nvSpPr>
          <p:cNvPr id="13" name="Text 11"/>
          <p:cNvSpPr/>
          <p:nvPr/>
        </p:nvSpPr>
        <p:spPr>
          <a:xfrm>
            <a:off x="4174794" y="2303729"/>
            <a:ext cx="395761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181D"/>
                </a:solidFill>
                <a:latin typeface="Public Sans" pitchFamily="34" charset="0"/>
                <a:ea typeface="Public Sans" pitchFamily="34" charset="-122"/>
                <a:cs typeface="Public Sans" pitchFamily="34" charset="-120"/>
              </a:rPr>
              <a:t>Software</a:t>
            </a:r>
            <a:endParaRPr lang="en-US" sz="1600" dirty="0"/>
          </a:p>
        </p:txBody>
      </p:sp>
      <p:sp>
        <p:nvSpPr>
          <p:cNvPr id="14" name="Text 12"/>
          <p:cNvSpPr/>
          <p:nvPr/>
        </p:nvSpPr>
        <p:spPr>
          <a:xfrm>
            <a:off x="4174794" y="2661841"/>
            <a:ext cx="395761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Claude Sonnet 5.5: seeing and planning</a:t>
            </a:r>
            <a:endParaRPr lang="en-US" sz="1300" dirty="0"/>
          </a:p>
        </p:txBody>
      </p:sp>
      <p:sp>
        <p:nvSpPr>
          <p:cNvPr id="15" name="Text 13"/>
          <p:cNvSpPr/>
          <p:nvPr/>
        </p:nvSpPr>
        <p:spPr>
          <a:xfrm>
            <a:off x="4174794" y="2956455"/>
            <a:ext cx="395761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JEV (TypeSafe): quick decisions</a:t>
            </a:r>
            <a:endParaRPr lang="en-US" sz="1300" dirty="0"/>
          </a:p>
        </p:txBody>
      </p:sp>
      <p:sp>
        <p:nvSpPr>
          <p:cNvPr id="16" name="Text 14"/>
          <p:cNvSpPr/>
          <p:nvPr/>
        </p:nvSpPr>
        <p:spPr>
          <a:xfrm>
            <a:off x="4174794" y="3251070"/>
            <a:ext cx="395761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Vosk: offline speech recognition</a:t>
            </a:r>
            <a:endParaRPr lang="en-US" sz="1300" dirty="0"/>
          </a:p>
        </p:txBody>
      </p:sp>
      <p:sp>
        <p:nvSpPr>
          <p:cNvPr id="17" name="Text 15"/>
          <p:cNvSpPr/>
          <p:nvPr/>
        </p:nvSpPr>
        <p:spPr>
          <a:xfrm>
            <a:off x="4174794" y="3545681"/>
            <a:ext cx="395761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ElevenLabs voice; espeak-ng backup</a:t>
            </a:r>
            <a:endParaRPr lang="en-US" sz="1300" dirty="0"/>
          </a:p>
        </p:txBody>
      </p:sp>
      <p:sp>
        <p:nvSpPr>
          <p:cNvPr id="18" name="Text 16"/>
          <p:cNvSpPr/>
          <p:nvPr/>
        </p:nvSpPr>
        <p:spPr>
          <a:xfrm>
            <a:off x="4174794" y="3840296"/>
            <a:ext cx="395761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OpenCV: measures turns</a:t>
            </a:r>
            <a:endParaRPr lang="en-US" sz="1300" dirty="0"/>
          </a:p>
        </p:txBody>
      </p:sp>
      <p:sp>
        <p:nvSpPr>
          <p:cNvPr id="19" name="Text 17"/>
          <p:cNvSpPr/>
          <p:nvPr/>
        </p:nvSpPr>
        <p:spPr>
          <a:xfrm>
            <a:off x="4174794" y="4134910"/>
            <a:ext cx="395761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Python, picamera2, gpiozero, systemd</a:t>
            </a:r>
            <a:endParaRPr lang="en-US" sz="1300" dirty="0"/>
          </a:p>
        </p:txBody>
      </p:sp>
      <p:sp>
        <p:nvSpPr>
          <p:cNvPr id="20" name="Shape 18"/>
          <p:cNvSpPr/>
          <p:nvPr/>
        </p:nvSpPr>
        <p:spPr>
          <a:xfrm>
            <a:off x="8423540" y="2144979"/>
            <a:ext cx="2955660" cy="0"/>
          </a:xfrm>
          <a:prstGeom prst="line">
            <a:avLst/>
          </a:prstGeom>
          <a:noFill/>
          <a:ln w="12700">
            <a:solidFill>
              <a:srgbClr val="2F5BD0"/>
            </a:solidFill>
            <a:prstDash val="solid"/>
          </a:ln>
        </p:spPr>
      </p:sp>
      <p:sp>
        <p:nvSpPr>
          <p:cNvPr id="21" name="Text 19"/>
          <p:cNvSpPr/>
          <p:nvPr/>
        </p:nvSpPr>
        <p:spPr>
          <a:xfrm>
            <a:off x="8423540" y="2303729"/>
            <a:ext cx="3044330"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F5BD0"/>
                </a:solidFill>
                <a:latin typeface="Public Sans" pitchFamily="34" charset="0"/>
                <a:ea typeface="Public Sans" pitchFamily="34" charset="-122"/>
                <a:cs typeface="Public Sans" pitchFamily="34" charset="-120"/>
              </a:rPr>
              <a:t>73 MB</a:t>
            </a:r>
            <a:endParaRPr lang="en-US" sz="3600" dirty="0"/>
          </a:p>
        </p:txBody>
      </p:sp>
      <p:sp>
        <p:nvSpPr>
          <p:cNvPr id="22" name="Text 20"/>
          <p:cNvSpPr/>
          <p:nvPr/>
        </p:nvSpPr>
        <p:spPr>
          <a:xfrm>
            <a:off x="8423540" y="2832035"/>
            <a:ext cx="304433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Device software, no AI models on the device</a:t>
            </a:r>
            <a:endParaRPr lang="en-US" sz="1300" dirty="0"/>
          </a:p>
        </p:txBody>
      </p:sp>
      <p:sp>
        <p:nvSpPr>
          <p:cNvPr id="23" name="Text 21"/>
          <p:cNvSpPr/>
          <p:nvPr/>
        </p:nvSpPr>
        <p:spPr>
          <a:xfrm>
            <a:off x="8423540" y="3497461"/>
            <a:ext cx="3044330" cy="528307"/>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2F5BD0"/>
                </a:solidFill>
                <a:latin typeface="Public Sans" pitchFamily="34" charset="0"/>
                <a:ea typeface="Public Sans" pitchFamily="34" charset="-122"/>
                <a:cs typeface="Public Sans" pitchFamily="34" charset="-120"/>
              </a:rPr>
              <a:t>~$0.01–0.02</a:t>
            </a:r>
            <a:endParaRPr lang="en-US" sz="3600" dirty="0"/>
          </a:p>
        </p:txBody>
      </p:sp>
      <p:sp>
        <p:nvSpPr>
          <p:cNvPr id="24" name="Text 22"/>
          <p:cNvSpPr/>
          <p:nvPr/>
        </p:nvSpPr>
        <p:spPr>
          <a:xfrm>
            <a:off x="8423540" y="4025770"/>
            <a:ext cx="304433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Per Claude look (estimate)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D0"/>
                </a:solidFill>
                <a:latin typeface="Public Sans" pitchFamily="34" charset="0"/>
                <a:ea typeface="Public Sans" pitchFamily="34" charset="-122"/>
                <a:cs typeface="Public Sans" pitchFamily="34" charset="-120"/>
              </a:rPr>
              <a:t>08 · HOW IT WORKS</a:t>
            </a:r>
            <a:endParaRPr lang="en-US" sz="1200" dirty="0"/>
          </a:p>
        </p:txBody>
      </p:sp>
      <p:pic>
        <p:nvPicPr>
          <p:cNvPr id="3" name="Image 0" descr="IMG_20261004_122039_587.jpg.jpeg">    </p:cNvPr>
          <p:cNvPicPr>
            <a:picLocks noChangeAspect="1"/>
          </p:cNvPicPr>
          <p:nvPr/>
        </p:nvPicPr>
        <p:blipFill>
          <a:blip r:embed="rId1"/>
          <a:srcRect l="97" r="97" t="0" b="0"/>
          <a:stretch/>
        </p:blipFill>
        <p:spPr>
          <a:xfrm>
            <a:off x="71206" y="1315709"/>
            <a:ext cx="11962540" cy="478499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D0"/>
                </a:solidFill>
                <a:latin typeface="Public Sans" pitchFamily="34" charset="0"/>
                <a:ea typeface="Public Sans" pitchFamily="34" charset="-122"/>
                <a:cs typeface="Public Sans" pitchFamily="34" charset="-120"/>
              </a:rPr>
              <a:t>09 · RESULTS AND LIMITS</a:t>
            </a:r>
            <a:endParaRPr lang="en-US" sz="1200" dirty="0"/>
          </a:p>
        </p:txBody>
      </p:sp>
      <p:sp>
        <p:nvSpPr>
          <p:cNvPr id="3" name="Text 1"/>
          <p:cNvSpPr/>
          <p:nvPr>
            <p:ph type="title"/>
          </p:nvPr>
        </p:nvSpPr>
        <p:spPr>
          <a:xfrm>
            <a:off x="812800" y="13055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spc="-50" kern="0" dirty="0">
                <a:solidFill>
                  <a:srgbClr val="16181D"/>
                </a:solidFill>
                <a:latin typeface="Public Sans" pitchFamily="34" charset="0"/>
                <a:ea typeface="Public Sans" pitchFamily="34" charset="-122"/>
                <a:cs typeface="Public Sans" pitchFamily="34" charset="-120"/>
              </a:rPr>
              <a:t>Built, tested, and running on the hardware</a:t>
            </a:r>
            <a:endParaRPr lang="en-US" sz="3600" dirty="0"/>
          </a:p>
        </p:txBody>
      </p:sp>
      <p:sp>
        <p:nvSpPr>
          <p:cNvPr id="4" name="Text 2"/>
          <p:cNvSpPr/>
          <p:nvPr/>
        </p:nvSpPr>
        <p:spPr>
          <a:xfrm>
            <a:off x="812800" y="2087829"/>
            <a:ext cx="3418501"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6181D"/>
                </a:solidFill>
                <a:latin typeface="Public Sans" pitchFamily="34" charset="0"/>
                <a:ea typeface="Public Sans" pitchFamily="34" charset="-122"/>
                <a:cs typeface="Public Sans" pitchFamily="34" charset="-120"/>
              </a:rPr>
              <a:t>4.5 s</a:t>
            </a:r>
            <a:endParaRPr lang="en-US" sz="4800" dirty="0"/>
          </a:p>
        </p:txBody>
      </p:sp>
      <p:sp>
        <p:nvSpPr>
          <p:cNvPr id="5" name="Text 3"/>
          <p:cNvSpPr/>
          <p:nvPr/>
        </p:nvSpPr>
        <p:spPr>
          <a:xfrm>
            <a:off x="812800" y="2783749"/>
            <a:ext cx="341850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First answer</a:t>
            </a:r>
            <a:endParaRPr lang="en-US" sz="1300" dirty="0"/>
          </a:p>
        </p:txBody>
      </p:sp>
      <p:sp>
        <p:nvSpPr>
          <p:cNvPr id="6" name="Text 4"/>
          <p:cNvSpPr/>
          <p:nvPr/>
        </p:nvSpPr>
        <p:spPr>
          <a:xfrm>
            <a:off x="4436533" y="2087829"/>
            <a:ext cx="3418501"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6181D"/>
                </a:solidFill>
                <a:latin typeface="Public Sans" pitchFamily="34" charset="0"/>
                <a:ea typeface="Public Sans" pitchFamily="34" charset="-122"/>
                <a:cs typeface="Public Sans" pitchFamily="34" charset="-120"/>
              </a:rPr>
              <a:t>3.1 s</a:t>
            </a:r>
            <a:endParaRPr lang="en-US" sz="4800" dirty="0"/>
          </a:p>
        </p:txBody>
      </p:sp>
      <p:sp>
        <p:nvSpPr>
          <p:cNvPr id="7" name="Text 5"/>
          <p:cNvSpPr/>
          <p:nvPr/>
        </p:nvSpPr>
        <p:spPr>
          <a:xfrm>
            <a:off x="4436533" y="2783749"/>
            <a:ext cx="341850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Re-checks</a:t>
            </a:r>
            <a:endParaRPr lang="en-US" sz="1300" dirty="0"/>
          </a:p>
        </p:txBody>
      </p:sp>
      <p:sp>
        <p:nvSpPr>
          <p:cNvPr id="8" name="Text 6"/>
          <p:cNvSpPr/>
          <p:nvPr/>
        </p:nvSpPr>
        <p:spPr>
          <a:xfrm>
            <a:off x="8060267" y="2087829"/>
            <a:ext cx="3418501"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16181D"/>
                </a:solidFill>
                <a:latin typeface="Public Sans" pitchFamily="34" charset="0"/>
                <a:ea typeface="Public Sans" pitchFamily="34" charset="-122"/>
                <a:cs typeface="Public Sans" pitchFamily="34" charset="-120"/>
              </a:rPr>
              <a:t>0.3 s</a:t>
            </a:r>
            <a:endParaRPr lang="en-US" sz="4800" dirty="0"/>
          </a:p>
        </p:txBody>
      </p:sp>
      <p:sp>
        <p:nvSpPr>
          <p:cNvPr id="9" name="Text 7"/>
          <p:cNvSpPr/>
          <p:nvPr/>
        </p:nvSpPr>
        <p:spPr>
          <a:xfrm>
            <a:off x="8060267" y="2783749"/>
            <a:ext cx="341850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JEV decisions</a:t>
            </a:r>
            <a:endParaRPr lang="en-US" sz="1300" dirty="0"/>
          </a:p>
        </p:txBody>
      </p:sp>
      <p:sp>
        <p:nvSpPr>
          <p:cNvPr id="10" name="Shape 8"/>
          <p:cNvSpPr/>
          <p:nvPr/>
        </p:nvSpPr>
        <p:spPr>
          <a:xfrm>
            <a:off x="812800" y="3300611"/>
            <a:ext cx="3251200" cy="0"/>
          </a:xfrm>
          <a:prstGeom prst="line">
            <a:avLst/>
          </a:prstGeom>
          <a:noFill/>
          <a:ln w="12700">
            <a:solidFill>
              <a:srgbClr val="16181D"/>
            </a:solidFill>
            <a:prstDash val="solid"/>
          </a:ln>
        </p:spPr>
      </p:sp>
      <p:sp>
        <p:nvSpPr>
          <p:cNvPr id="11" name="Text 9"/>
          <p:cNvSpPr/>
          <p:nvPr/>
        </p:nvSpPr>
        <p:spPr>
          <a:xfrm>
            <a:off x="812800" y="3433961"/>
            <a:ext cx="33487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Public Sans" pitchFamily="34" charset="0"/>
                <a:ea typeface="Public Sans" pitchFamily="34" charset="-122"/>
                <a:cs typeface="Public Sans" pitchFamily="34" charset="-120"/>
              </a:rPr>
              <a:t>Proven</a:t>
            </a:r>
            <a:endParaRPr lang="en-US" sz="1500" dirty="0"/>
          </a:p>
        </p:txBody>
      </p:sp>
      <p:sp>
        <p:nvSpPr>
          <p:cNvPr id="12" name="Text 10"/>
          <p:cNvSpPr/>
          <p:nvPr/>
        </p:nvSpPr>
        <p:spPr>
          <a:xfrm>
            <a:off x="812800" y="3713361"/>
            <a:ext cx="334873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Found a glass door past tables in live tests</a:t>
            </a:r>
            <a:endParaRPr lang="en-US" sz="1300" dirty="0"/>
          </a:p>
        </p:txBody>
      </p:sp>
      <p:sp>
        <p:nvSpPr>
          <p:cNvPr id="13" name="Text 11"/>
          <p:cNvSpPr/>
          <p:nvPr/>
        </p:nvSpPr>
        <p:spPr>
          <a:xfrm>
            <a:off x="812800" y="3995279"/>
            <a:ext cx="334873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Runs on the Raspberry Pi 5 in a real classroom</a:t>
            </a:r>
            <a:endParaRPr lang="en-US" sz="1300" dirty="0"/>
          </a:p>
        </p:txBody>
      </p:sp>
      <p:sp>
        <p:nvSpPr>
          <p:cNvPr id="14" name="Shape 12"/>
          <p:cNvSpPr/>
          <p:nvPr/>
        </p:nvSpPr>
        <p:spPr>
          <a:xfrm>
            <a:off x="4470400" y="3300611"/>
            <a:ext cx="3251200" cy="0"/>
          </a:xfrm>
          <a:prstGeom prst="line">
            <a:avLst/>
          </a:prstGeom>
          <a:noFill/>
          <a:ln w="12700">
            <a:solidFill>
              <a:srgbClr val="16181D"/>
            </a:solidFill>
            <a:prstDash val="solid"/>
          </a:ln>
        </p:spPr>
      </p:sp>
      <p:sp>
        <p:nvSpPr>
          <p:cNvPr id="15" name="Text 13"/>
          <p:cNvSpPr/>
          <p:nvPr/>
        </p:nvSpPr>
        <p:spPr>
          <a:xfrm>
            <a:off x="4470400" y="3433961"/>
            <a:ext cx="33487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6181D"/>
                </a:solidFill>
                <a:latin typeface="Public Sans" pitchFamily="34" charset="0"/>
                <a:ea typeface="Public Sans" pitchFamily="34" charset="-122"/>
                <a:cs typeface="Public Sans" pitchFamily="34" charset="-120"/>
              </a:rPr>
              <a:t>Limits</a:t>
            </a:r>
            <a:endParaRPr lang="en-US" sz="1500" dirty="0"/>
          </a:p>
        </p:txBody>
      </p:sp>
      <p:sp>
        <p:nvSpPr>
          <p:cNvPr id="16" name="Text 14"/>
          <p:cNvSpPr/>
          <p:nvPr/>
        </p:nvSpPr>
        <p:spPr>
          <a:xfrm>
            <a:off x="4470400" y="3713361"/>
            <a:ext cx="3348736"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Needs internet; indoors only; distances are estimates</a:t>
            </a:r>
            <a:endParaRPr lang="en-US" sz="1300" dirty="0"/>
          </a:p>
        </p:txBody>
      </p:sp>
      <p:sp>
        <p:nvSpPr>
          <p:cNvPr id="17" name="Text 15"/>
          <p:cNvSpPr/>
          <p:nvPr/>
        </p:nvSpPr>
        <p:spPr>
          <a:xfrm>
            <a:off x="4470400" y="4226390"/>
            <a:ext cx="334873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55B66"/>
                </a:solidFill>
                <a:latin typeface="Public Sans" pitchFamily="34" charset="0"/>
                <a:ea typeface="Public Sans" pitchFamily="34" charset="-122"/>
                <a:cs typeface="Public Sans" pitchFamily="34" charset="-120"/>
              </a:rPr>
              <a:t>Use it with the cane, not instead of it</a:t>
            </a:r>
            <a:endParaRPr lang="en-US" sz="1300" dirty="0"/>
          </a:p>
        </p:txBody>
      </p:sp>
      <p:sp>
        <p:nvSpPr>
          <p:cNvPr id="18" name="Shape 16"/>
          <p:cNvSpPr/>
          <p:nvPr/>
        </p:nvSpPr>
        <p:spPr>
          <a:xfrm>
            <a:off x="8128000" y="3300611"/>
            <a:ext cx="3251200" cy="0"/>
          </a:xfrm>
          <a:prstGeom prst="line">
            <a:avLst/>
          </a:prstGeom>
          <a:noFill/>
          <a:ln w="12700">
            <a:solidFill>
              <a:srgbClr val="2F5BD0"/>
            </a:solidFill>
            <a:prstDash val="solid"/>
          </a:ln>
        </p:spPr>
      </p:sp>
      <p:sp>
        <p:nvSpPr>
          <p:cNvPr id="19" name="Text 17"/>
          <p:cNvSpPr/>
          <p:nvPr/>
        </p:nvSpPr>
        <p:spPr>
          <a:xfrm>
            <a:off x="8128000" y="3433961"/>
            <a:ext cx="334873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2F5BD0"/>
                </a:solidFill>
                <a:latin typeface="Public Sans" pitchFamily="34" charset="0"/>
                <a:ea typeface="Public Sans" pitchFamily="34" charset="-122"/>
                <a:cs typeface="Public Sans" pitchFamily="34" charset="-120"/>
              </a:rPr>
              <a:t>Still open</a:t>
            </a:r>
            <a:endParaRPr lang="en-US" sz="1500" dirty="0"/>
          </a:p>
        </p:txBody>
      </p:sp>
      <p:sp>
        <p:nvSpPr>
          <p:cNvPr id="20" name="Text 18"/>
          <p:cNvSpPr/>
          <p:nvPr/>
        </p:nvSpPr>
        <p:spPr>
          <a:xfrm>
            <a:off x="8128000" y="3713361"/>
            <a:ext cx="334873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6181D"/>
                </a:solidFill>
                <a:latin typeface="Public Sans" pitchFamily="34" charset="0"/>
                <a:ea typeface="Public Sans" pitchFamily="34" charset="-122"/>
                <a:cs typeface="Public Sans" pitchFamily="34" charset="-120"/>
              </a:rPr>
              <a:t>Not yet tested with blind users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2F5BD0"/>
                </a:solidFill>
                <a:latin typeface="Public Sans" pitchFamily="34" charset="0"/>
                <a:ea typeface="Public Sans" pitchFamily="34" charset="-122"/>
                <a:cs typeface="Public Sans" pitchFamily="34" charset="-120"/>
              </a:rPr>
              <a:t>10 · FUTURE SCOPE</a:t>
            </a:r>
            <a:endParaRPr lang="en-US" sz="1200" dirty="0"/>
          </a:p>
        </p:txBody>
      </p:sp>
      <p:pic>
        <p:nvPicPr>
          <p:cNvPr id="3" name="Image 0" descr="IMG_20261004_120057_534.jpg.jpeg">    </p:cNvPr>
          <p:cNvPicPr>
            <a:picLocks noChangeAspect="1"/>
          </p:cNvPicPr>
          <p:nvPr/>
        </p:nvPicPr>
        <p:blipFill>
          <a:blip r:embed="rId1"/>
          <a:srcRect l="98" r="98" t="0" b="0"/>
          <a:stretch/>
        </p:blipFill>
        <p:spPr>
          <a:xfrm>
            <a:off x="0" y="1352221"/>
            <a:ext cx="12146359" cy="48585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81D"/>
        </a:solidFill>
      </p:bgPr>
    </p:bg>
    <p:spTree>
      <p:nvGrpSpPr>
        <p:cNvPr id="1" name=""/>
        <p:cNvGrpSpPr/>
        <p:nvPr/>
      </p:nvGrpSpPr>
      <p:grpSpPr>
        <a:xfrm>
          <a:off x="0" y="0"/>
          <a:ext cx="0" cy="0"/>
          <a:chOff x="0" y="0"/>
          <a:chExt cx="0" cy="0"/>
        </a:xfrm>
      </p:grpSpPr>
      <p:sp>
        <p:nvSpPr>
          <p:cNvPr id="2" name="Text 0"/>
          <p:cNvSpPr/>
          <p:nvPr>
            <p:ph type="title"/>
          </p:nvPr>
        </p:nvSpPr>
        <p:spPr>
          <a:xfrm>
            <a:off x="812800" y="2548074"/>
            <a:ext cx="10883392" cy="985507"/>
          </a:xfrm>
          <a:prstGeom prst="rect">
            <a:avLst/>
          </a:prstGeom>
          <a:noFill/>
          <a:ln/>
        </p:spPr>
        <p:txBody>
          <a:bodyPr wrap="square" lIns="0" tIns="0" rIns="0" bIns="0" rtlCol="0" anchor="t">
            <a:normAutofit/>
          </a:bodyPr>
          <a:lstStyle/>
          <a:p>
            <a:pPr algn="l" indent="0" marL="0">
              <a:lnSpc>
                <a:spcPts val="7560"/>
              </a:lnSpc>
              <a:buNone/>
            </a:pPr>
            <a:r>
              <a:rPr lang="en-US" sz="7200" b="1" i="0" spc="-150" kern="0" dirty="0">
                <a:solidFill>
                  <a:srgbClr val="F7F6F2"/>
                </a:solidFill>
                <a:latin typeface="Public Sans" pitchFamily="34" charset="0"/>
                <a:ea typeface="Public Sans" pitchFamily="34" charset="-122"/>
                <a:cs typeface="Public Sans" pitchFamily="34" charset="-120"/>
              </a:rPr>
              <a:t>Thank You!</a:t>
            </a:r>
            <a:endParaRPr lang="en-US" sz="7200" dirty="0"/>
          </a:p>
        </p:txBody>
      </p:sp>
      <p:sp>
        <p:nvSpPr>
          <p:cNvPr id="3" name="Shape 1"/>
          <p:cNvSpPr/>
          <p:nvPr/>
        </p:nvSpPr>
        <p:spPr>
          <a:xfrm>
            <a:off x="812800" y="5246625"/>
            <a:ext cx="10566400" cy="0"/>
          </a:xfrm>
          <a:prstGeom prst="line">
            <a:avLst/>
          </a:prstGeom>
          <a:noFill/>
          <a:ln w="6350">
            <a:solidFill>
              <a:srgbClr val="4A4F5A"/>
            </a:solidFill>
            <a:prstDash val="solid"/>
          </a:ln>
        </p:spPr>
      </p:sp>
      <p:sp>
        <p:nvSpPr>
          <p:cNvPr id="4" name="Text 2"/>
          <p:cNvSpPr/>
          <p:nvPr/>
        </p:nvSpPr>
        <p:spPr>
          <a:xfrm>
            <a:off x="812800" y="5400080"/>
            <a:ext cx="10883392"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7F6F2"/>
                </a:solidFill>
                <a:latin typeface="Public Sans" pitchFamily="34" charset="0"/>
                <a:ea typeface="Public Sans" pitchFamily="34" charset="-122"/>
                <a:cs typeface="Public Sans" pitchFamily="34" charset="-120"/>
              </a:rPr>
              <a:t>Team Jugaad Junction</a:t>
            </a:r>
            <a:endParaRPr lang="en-US" sz="1600" dirty="0"/>
          </a:p>
        </p:txBody>
      </p:sp>
      <p:sp>
        <p:nvSpPr>
          <p:cNvPr id="5" name="Text 3"/>
          <p:cNvSpPr/>
          <p:nvPr/>
        </p:nvSpPr>
        <p:spPr>
          <a:xfrm>
            <a:off x="812800" y="5720097"/>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9B0BC"/>
                </a:solidFill>
                <a:latin typeface="Public Sans" pitchFamily="34" charset="0"/>
                <a:ea typeface="Public Sans" pitchFamily="34" charset="-122"/>
                <a:cs typeface="Public Sans" pitchFamily="34" charset="-120"/>
              </a:rPr>
              <a:t>Deepraj R · Hadi Afnan · Mohammed Anshid · Aflah Sidhique</a:t>
            </a:r>
            <a:endParaRPr lang="en-US" sz="1400" dirty="0"/>
          </a:p>
        </p:txBody>
      </p:sp>
    </p:spTree>
  </p:cSld>
  <p:clrMapOvr>
    <a:masterClrMapping/>
  </p:clrMapOvr>
</p:sld>
</file>

<file path=ppt/theme/theme1.xml><?xml version="1.0" encoding="utf-8"?>
<a:theme xmlns:a="http://schemas.openxmlformats.org/drawingml/2006/main" name="SENSE Wayfinder Pitch">
  <a:themeElements>
    <a:clrScheme name="SENSE Wayfinder Pitch">
      <a:dk1>
        <a:srgbClr val="16181D"/>
      </a:dk1>
      <a:lt1>
        <a:srgbClr val="F7F6F2"/>
      </a:lt1>
      <a:dk2>
        <a:srgbClr val="4E5052"/>
      </a:dk2>
      <a:lt2>
        <a:srgbClr val="E1E0DD"/>
      </a:lt2>
      <a:accent1>
        <a:srgbClr val="2F5BD0"/>
      </a:accent1>
      <a:accent2>
        <a:srgbClr val="8FB0FF"/>
      </a:accent2>
      <a:accent3>
        <a:srgbClr val="555B66"/>
      </a:accent3>
      <a:accent4>
        <a:srgbClr val="A9B0BC"/>
      </a:accent4>
      <a:accent5>
        <a:srgbClr val="9AA0A6"/>
      </a:accent5>
      <a:accent6>
        <a:srgbClr val="707172"/>
      </a:accent6>
      <a:hlink>
        <a:srgbClr val="0563C1"/>
      </a:hlink>
      <a:folHlink>
        <a:srgbClr val="954F72"/>
      </a:folHlink>
    </a:clrScheme>
    <a:fontScheme name="SENSE Wayfinder Pitch">
      <a:majorFont>
        <a:latin typeface="Public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SENSE Wayfinder Pitch</dc:title>
  <dc:subject/>
  <dc:creator/>
  <cp:lastModifiedBy/>
  <cp:revision>1</cp:revision>
  <dcterms:created xsi:type="dcterms:W3CDTF">2026-10-04T07:05:28Z</dcterms:created>
  <dcterms:modified xsi:type="dcterms:W3CDTF">2026-10-04T07:05:28Z</dcterms:modified>
</cp:coreProperties>
</file>